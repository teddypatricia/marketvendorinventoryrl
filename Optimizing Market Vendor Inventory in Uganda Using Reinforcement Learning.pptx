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1" r:id="rId11"/>
    <p:sldId id="273" r:id="rId12"/>
    <p:sldId id="274" r:id="rId13"/>
    <p:sldId id="275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>
        <p:scale>
          <a:sx n="55" d="100"/>
          <a:sy n="55" d="100"/>
        </p:scale>
        <p:origin x="1096" y="3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638548-2DE2-93E0-E2A0-F5CE162A8BB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63ED5A-7C91-DD73-DE8B-2231E0A5A2A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02501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653946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466706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1837406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8137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564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525573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117469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74188744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405754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78927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089722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399606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7867582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027295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2614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9516959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32425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224046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90234205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250655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63697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986452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104897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2170679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0479295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614101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94520103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576161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81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23234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66233599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384862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35355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880354664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51574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5999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679630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16653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8647238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37526262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083447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04657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792279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6249698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461316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44200815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740130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8905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005443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28686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53399466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653294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4925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8081003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156978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74044548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338278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Las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30305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  <p:sp>
        <p:nvSpPr>
          <p:cNvPr id="1573034454" name="Date Placeholder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443384352" name="Footer Placeholder 4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781319016" name="Group 19"/>
          <p:cNvGrpSpPr/>
          <p:nvPr userDrawn="1"/>
        </p:nvGrpSpPr>
        <p:grpSpPr bwMode="auto"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/>
            <p:cNvGrpSpPr/>
            <p:nvPr userDrawn="1"/>
          </p:nvGrpSpPr>
          <p:grpSpPr bwMode="auto"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2"/>
              <a:srcRect r="66494" b="67238"/>
              <a:stretch/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</p:spPr>
          </p:pic>
          <p:pic>
            <p:nvPicPr>
              <p:cNvPr id="8" name="Picture 6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l="67402" b="69905"/>
              <a:stretch/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</p:spPr>
          </p:pic>
          <p:pic>
            <p:nvPicPr>
              <p:cNvPr id="9" name="Picture 8" descr="Round black telephone logo, Telephone Icon, Phone File, electronics, logo,  black And White png | PNGWing"/>
              <p:cNvPicPr>
                <a:picLocks noChangeAspect="1" noChangeArrowheads="1"/>
              </p:cNvPicPr>
              <p:nvPr/>
            </p:nvPicPr>
            <p:blipFill rotWithShape="1">
              <a:blip r:embed="rId4"/>
              <a:stretch/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</p:spPr>
          </p:pic>
          <p:sp>
            <p:nvSpPr>
              <p:cNvPr id="10" name="TextBox 9"/>
              <p:cNvSpPr txBox="1"/>
              <p:nvPr/>
            </p:nvSpPr>
            <p:spPr bwMode="auto"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US" sz="1350">
                    <a:solidFill>
                      <a:prstClr val="black"/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/>
                  </a:solidFill>
                  <a:latin typeface="Trebuchet MS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 u="sng">
                    <a:solidFill>
                      <a:srgbClr val="0000FF"/>
                    </a:solidFill>
                    <a:latin typeface="Trebuchet MS"/>
                    <a:hlinkClick r:id="rId5"/>
                  </a:rPr>
                  <a:t>https://ucu.ac.ug/</a:t>
                </a:r>
                <a:r>
                  <a:rPr lang="en-GB" sz="1350">
                    <a:solidFill>
                      <a:srgbClr val="0000FF"/>
                    </a:solidFill>
                    <a:latin typeface="Trebuchet MS"/>
                  </a:rPr>
                  <a:t> </a:t>
                </a:r>
                <a:endParaRPr sz="135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@UCUniversity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135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Trebuchet MS"/>
                  </a:rPr>
                  <a:t>@UgandaChristianUniversity</a:t>
                </a:r>
                <a:endParaRPr sz="1350">
                  <a:solidFill>
                    <a:prstClr val="black">
                      <a:lumMod val="95000"/>
                      <a:lumOff val="5000"/>
                    </a:prstClr>
                  </a:solidFill>
                  <a:latin typeface="Trebuchet MS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sv-SE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P.O. Box 4 Mukono, Uganda</a:t>
                </a:r>
                <a:endParaRPr/>
              </a:p>
              <a:p>
                <a:pPr defTabSz="685800">
                  <a:defRPr/>
                </a:pPr>
                <a:r>
                  <a:rPr lang="en-GB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Tel: 256-312-350800</a:t>
                </a:r>
                <a:endParaRPr/>
              </a:p>
              <a:p>
                <a:pPr defTabSz="685800">
                  <a:defRPr/>
                </a:pPr>
                <a:r>
                  <a:rPr lang="fr-FR" sz="1400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Email: </a:t>
                </a:r>
                <a:r>
                  <a:rPr lang="fr-FR" sz="1400" u="sng">
                    <a:solidFill>
                      <a:srgbClr val="0000FF"/>
                    </a:solidFill>
                    <a:latin typeface="Trebuchet MS"/>
                    <a:hlinkClick r:id="rId6"/>
                  </a:rPr>
                  <a:t>info@ucu.ac.ug</a:t>
                </a:r>
                <a:endParaRPr lang="fr-FR" sz="1400">
                  <a:solidFill>
                    <a:srgbClr val="0000FF"/>
                  </a:solidFill>
                  <a:latin typeface="Trebuchet MS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GB" sz="2000" b="1">
                    <a:solidFill>
                      <a:srgbClr val="5B9BD5">
                        <a:lumMod val="50000"/>
                      </a:srgbClr>
                    </a:solidFill>
                    <a:latin typeface="Trebuchet MS"/>
                  </a:rPr>
                  <a:t>Uganda Christian University</a:t>
                </a:r>
                <a:endParaRPr sz="2000">
                  <a:solidFill>
                    <a:srgbClr val="5B9BD5">
                      <a:lumMod val="50000"/>
                    </a:srgbClr>
                  </a:solidFill>
                  <a:latin typeface="Trebuchet MS"/>
                </a:endParaRPr>
              </a:p>
            </p:txBody>
          </p:sp>
          <p:pic>
            <p:nvPicPr>
              <p:cNvPr id="16" name="Picture 6" descr="facebook instagram whatsapp PNG image with transparent background | TOPpng"/>
              <p:cNvPicPr>
                <a:picLocks noChangeAspect="1" noChangeArrowheads="1"/>
              </p:cNvPicPr>
              <p:nvPr userDrawn="1"/>
            </p:nvPicPr>
            <p:blipFill rotWithShape="1">
              <a:blip r:embed="rId3"/>
              <a:srcRect t="34921" r="64675" b="31936"/>
              <a:stretch/>
            </p:blipFill>
            <p:spPr bwMode="auto">
              <a:xfrm>
                <a:off x="7686943" y="4513314"/>
                <a:ext cx="448491" cy="447534"/>
              </a:xfrm>
              <a:prstGeom prst="rect">
                <a:avLst/>
              </a:prstGeom>
              <a:noFill/>
            </p:spPr>
          </p:pic>
        </p:grp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7"/>
            <a:srcRect l="4177" t="16271" r="77310" b="16736"/>
            <a:stretch/>
          </p:blipFill>
          <p:spPr bwMode="auto"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127696726" name="Picture 2" descr="Red button thank you icon Royalty Free Vector Image"/>
          <p:cNvPicPr>
            <a:picLocks noChangeAspect="1" noChangeArrowheads="1"/>
          </p:cNvPicPr>
          <p:nvPr userDrawn="1"/>
        </p:nvPicPr>
        <p:blipFill rotWithShape="1">
          <a:blip r:embed="rId8"/>
          <a:srcRect b="13043"/>
          <a:stretch/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ucu.ac.ug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mailto:info@ucu.ac.ug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5867820" name="Picture 10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96542548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781223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96517248" name="Rectangle 6"/>
          <p:cNvSpPr/>
          <p:nvPr userDrawn="1"/>
        </p:nvSpPr>
        <p:spPr bwMode="auto"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11869124" name="Rectangle 7"/>
          <p:cNvSpPr/>
          <p:nvPr userDrawn="1"/>
        </p:nvSpPr>
        <p:spPr bwMode="auto"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09271398" name="Rectangle 11"/>
          <p:cNvSpPr/>
          <p:nvPr userDrawn="1"/>
        </p:nvSpPr>
        <p:spPr bwMode="auto"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784364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83EAA9A-AD91-1245-A5C3-6A0CBEF58DBD}" type="slidenum">
              <a:rPr lang="en-GB"/>
              <a:t>‹#›</a:t>
            </a:fld>
            <a:endParaRPr lang="en-GB"/>
          </a:p>
        </p:txBody>
      </p:sp>
      <p:sp>
        <p:nvSpPr>
          <p:cNvPr id="38679861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5D528E-B0C4-574C-AE6E-B35A83CFEB13}" type="datetimeFigureOut">
              <a:rPr lang="en-GB"/>
              <a:t>21/11/2025</a:t>
            </a:fld>
            <a:endParaRPr lang="en-GB"/>
          </a:p>
        </p:txBody>
      </p:sp>
      <p:sp>
        <p:nvSpPr>
          <p:cNvPr id="123075062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27933551" name="TextBox 14"/>
          <p:cNvSpPr txBox="1"/>
          <p:nvPr userDrawn="1"/>
        </p:nvSpPr>
        <p:spPr bwMode="auto"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50" b="1">
                <a:solidFill>
                  <a:srgbClr val="0B3D91"/>
                </a:solidFill>
              </a:rPr>
              <a:t>A Complete Education for A Complete Person</a:t>
            </a:r>
            <a:endParaRPr/>
          </a:p>
          <a:p>
            <a:pPr algn="ctr">
              <a:defRPr/>
            </a:pPr>
            <a:br>
              <a:rPr lang="en-GB" sz="700"/>
            </a:br>
            <a:r>
              <a:rPr lang="en-GB" sz="700"/>
              <a:t>P.O. Box 4, Mukono, Uganda, Plot 67-173, Bishop Tucker Road, Mukono Hill</a:t>
            </a:r>
            <a:endParaRPr lang="en-US" sz="700"/>
          </a:p>
          <a:p>
            <a:pPr algn="ctr">
              <a:defRPr/>
            </a:pPr>
            <a:r>
              <a:rPr lang="en-GB" sz="700"/>
              <a:t>Tel: +256 (0) 312 350 800 Email: </a:t>
            </a:r>
            <a:r>
              <a:rPr lang="en-GB" sz="700" u="sng">
                <a:solidFill>
                  <a:srgbClr val="0000FF"/>
                </a:solidFill>
                <a:hlinkClick r:id="rId15"/>
              </a:rPr>
              <a:t>info@ucu.ac.ug</a:t>
            </a:r>
            <a:r>
              <a:rPr lang="en-GB" sz="700">
                <a:solidFill>
                  <a:srgbClr val="0000FF"/>
                </a:solidFill>
              </a:rPr>
              <a:t> </a:t>
            </a:r>
            <a:r>
              <a:rPr lang="en-GB" sz="700"/>
              <a:t>Web: </a:t>
            </a:r>
            <a:r>
              <a:rPr lang="en-GB" sz="700" u="sng">
                <a:solidFill>
                  <a:srgbClr val="0000FF"/>
                </a:solidFill>
              </a:rPr>
              <a:t>https://</a:t>
            </a:r>
            <a:r>
              <a:rPr lang="en-GB" sz="700" u="sng">
                <a:solidFill>
                  <a:srgbClr val="0000FF"/>
                </a:solidFill>
                <a:hlinkClick r:id="rId16"/>
              </a:rPr>
              <a:t>ucu.ac.ug</a:t>
            </a:r>
            <a:endParaRPr lang="en-US" sz="700" u="sng">
              <a:solidFill>
                <a:srgbClr val="0000FF"/>
              </a:solidFill>
            </a:endParaRPr>
          </a:p>
          <a:p>
            <a:pPr algn="ctr">
              <a:defRPr/>
            </a:pPr>
            <a:r>
              <a:rPr lang="en-GB" sz="650"/>
              <a:t>Founded by the Province of the Church of Uganda. Chartered by the Government of Uganda</a:t>
            </a:r>
            <a:endParaRPr lang="en-US" sz="650"/>
          </a:p>
        </p:txBody>
      </p:sp>
      <p:cxnSp>
        <p:nvCxnSpPr>
          <p:cNvPr id="1932772173" name="Straight Connector 16"/>
          <p:cNvCxnSpPr/>
          <p:nvPr userDrawn="1"/>
        </p:nvCxnSpPr>
        <p:spPr bwMode="auto"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D7014D"/>
        </a:buClr>
        <a:buFont typeface="Wingdings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/>
        <a:buChar char="q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/>
        <a:buChar char="q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974609" name="Title 1"/>
          <p:cNvSpPr>
            <a:spLocks noGrp="1"/>
          </p:cNvSpPr>
          <p:nvPr>
            <p:ph type="ctrTitle"/>
          </p:nvPr>
        </p:nvSpPr>
        <p:spPr bwMode="auto">
          <a:xfrm>
            <a:off x="1523999" y="849086"/>
            <a:ext cx="9382699" cy="32932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5000" b="1" dirty="0"/>
              <a:t>Optimizing Market Vendor Inventory in Uganda Using Reinforcement Learning</a:t>
            </a:r>
            <a:endParaRPr lang="en-GB" sz="5000" dirty="0"/>
          </a:p>
        </p:txBody>
      </p:sp>
      <p:sp>
        <p:nvSpPr>
          <p:cNvPr id="71812057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4043190"/>
            <a:ext cx="9144000" cy="1883885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sz="3500" dirty="0"/>
              <a:t>Theresa Nabyonga</a:t>
            </a:r>
          </a:p>
          <a:p>
            <a:pPr>
              <a:defRPr/>
            </a:pPr>
            <a:r>
              <a:rPr lang="en-GB" sz="3500" dirty="0"/>
              <a:t>21.November.2025</a:t>
            </a:r>
          </a:p>
          <a:p>
            <a:pPr>
              <a:defRPr/>
            </a:pPr>
            <a:r>
              <a:rPr lang="en-GB" sz="3500" dirty="0"/>
              <a:t>MSDS-Data Science Lifecycle 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FBCA-9CD0-D72E-5564-50591663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02DB9-41DB-64AD-3DBB-2AF0EC909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dirty="0"/>
              <a:t>Market vendors in Uganda face significant challenges in managing their inventory leading to stockouts, overstocking and reduced profits. </a:t>
            </a:r>
          </a:p>
          <a:p>
            <a:pPr marL="0" indent="0">
              <a:buNone/>
            </a:pPr>
            <a:r>
              <a:rPr lang="en-US" sz="3000" dirty="0"/>
              <a:t>Currently, most vendors rely on intuition and manual tracking resulting in inefficiencies. </a:t>
            </a:r>
          </a:p>
          <a:p>
            <a:pPr marL="0" indent="0">
              <a:buNone/>
            </a:pPr>
            <a:r>
              <a:rPr lang="en-US" sz="3000" dirty="0"/>
              <a:t>The goal is to develop a Reinforcement Learning-based system to optimize inventory control and improve vendor earnings.</a:t>
            </a:r>
            <a:endParaRPr lang="en-UG" sz="3000" dirty="0"/>
          </a:p>
        </p:txBody>
      </p:sp>
    </p:spTree>
    <p:extLst>
      <p:ext uri="{BB962C8B-B14F-4D97-AF65-F5344CB8AC3E}">
        <p14:creationId xmlns:p14="http://schemas.microsoft.com/office/powerpoint/2010/main" val="133528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DB1F-CC1D-F814-D772-3BE05AAB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FFCE-DA22-3217-3651-8BB3B1A5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87513"/>
            <a:ext cx="10883748" cy="494464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G" altLang="en-UG" dirty="0">
                <a:latin typeface="Arial" panose="020B0604020202020204" pitchFamily="34" charset="0"/>
              </a:rPr>
              <a:t>Market vendors</a:t>
            </a:r>
            <a:r>
              <a:rPr lang="en-US" altLang="en-UG" dirty="0">
                <a:latin typeface="Arial" panose="020B0604020202020204" pitchFamily="34" charset="0"/>
              </a:rPr>
              <a:t> in Uganda</a:t>
            </a:r>
            <a:r>
              <a:rPr lang="en-UG" altLang="en-UG" dirty="0">
                <a:latin typeface="Arial" panose="020B0604020202020204" pitchFamily="34" charset="0"/>
              </a:rPr>
              <a:t> face</a:t>
            </a:r>
            <a:r>
              <a:rPr lang="en-US" altLang="en-UG" dirty="0">
                <a:latin typeface="Arial" panose="020B0604020202020204" pitchFamily="34" charset="0"/>
              </a:rPr>
              <a:t> difficulties managing inventory leading to</a:t>
            </a:r>
            <a:r>
              <a:rPr lang="en-UG" altLang="en-UG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G" dirty="0">
                <a:latin typeface="Arial" panose="020B0604020202020204" pitchFamily="34" charset="0"/>
              </a:rPr>
              <a:t>Stockouts</a:t>
            </a:r>
            <a:r>
              <a:rPr lang="en-UG" altLang="en-UG" dirty="0">
                <a:latin typeface="Arial" panose="020B0604020202020204" pitchFamily="34" charset="0"/>
              </a:rPr>
              <a:t> → </a:t>
            </a:r>
            <a:r>
              <a:rPr lang="en-US" altLang="en-UG" dirty="0">
                <a:latin typeface="Arial" panose="020B0604020202020204" pitchFamily="34" charset="0"/>
              </a:rPr>
              <a:t>customer dissatisfaction &amp;</a:t>
            </a:r>
            <a:r>
              <a:rPr lang="en-UG" altLang="en-UG" dirty="0">
                <a:latin typeface="Arial" panose="020B0604020202020204" pitchFamily="34" charset="0"/>
              </a:rPr>
              <a:t>lost sales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dirty="0">
                <a:latin typeface="Arial" panose="020B0604020202020204" pitchFamily="34" charset="0"/>
              </a:rPr>
              <a:t>Overstocking → spoilage</a:t>
            </a:r>
            <a:r>
              <a:rPr lang="en-US" altLang="en-UG" dirty="0">
                <a:latin typeface="Arial" panose="020B0604020202020204" pitchFamily="34" charset="0"/>
              </a:rPr>
              <a:t>/</a:t>
            </a:r>
            <a:r>
              <a:rPr lang="en-UG" altLang="en-UG" dirty="0">
                <a:latin typeface="Arial" panose="020B0604020202020204" pitchFamily="34" charset="0"/>
              </a:rPr>
              <a:t>waste</a:t>
            </a:r>
            <a:r>
              <a:rPr lang="en-US" altLang="en-UG" dirty="0">
                <a:latin typeface="Arial" panose="020B0604020202020204" pitchFamily="34" charset="0"/>
              </a:rPr>
              <a:t> &amp; reduced profits.</a:t>
            </a:r>
            <a:endParaRPr lang="en-UG" altLang="en-UG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G" dirty="0">
                <a:latin typeface="Arial" panose="020B0604020202020204" pitchFamily="34" charset="0"/>
              </a:rPr>
              <a:t>M</a:t>
            </a:r>
            <a:r>
              <a:rPr lang="en-UG" altLang="en-UG" dirty="0">
                <a:latin typeface="Arial" panose="020B0604020202020204" pitchFamily="34" charset="0"/>
              </a:rPr>
              <a:t>anual</a:t>
            </a:r>
            <a:r>
              <a:rPr lang="en-US" altLang="en-UG" dirty="0">
                <a:latin typeface="Arial" panose="020B0604020202020204" pitchFamily="34" charset="0"/>
              </a:rPr>
              <a:t> or</a:t>
            </a:r>
            <a:r>
              <a:rPr lang="en-UG" altLang="en-UG" dirty="0">
                <a:latin typeface="Arial" panose="020B0604020202020204" pitchFamily="34" charset="0"/>
              </a:rPr>
              <a:t> intuition</a:t>
            </a:r>
            <a:r>
              <a:rPr lang="en-US" altLang="en-UG" dirty="0">
                <a:latin typeface="Arial" panose="020B0604020202020204" pitchFamily="34" charset="0"/>
              </a:rPr>
              <a:t> based inventory is sub-opt</a:t>
            </a:r>
            <a:r>
              <a:rPr lang="en-UG" altLang="en-UG" dirty="0">
                <a:latin typeface="Arial" panose="020B0604020202020204" pitchFamily="34" charset="0"/>
              </a:rPr>
              <a:t>imal.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b="1" dirty="0">
                <a:latin typeface="Arial" panose="020B0604020202020204" pitchFamily="34" charset="0"/>
              </a:rPr>
              <a:t>Dynamic demand</a:t>
            </a:r>
            <a:r>
              <a:rPr lang="en-UG" altLang="en-UG" dirty="0">
                <a:latin typeface="Arial" panose="020B0604020202020204" pitchFamily="34" charset="0"/>
              </a:rPr>
              <a:t> </a:t>
            </a:r>
            <a:r>
              <a:rPr lang="en-US" altLang="en-UG" dirty="0">
                <a:latin typeface="Arial" panose="020B0604020202020204" pitchFamily="34" charset="0"/>
              </a:rPr>
              <a:t>(</a:t>
            </a:r>
            <a:r>
              <a:rPr lang="en-UG" altLang="en-UG" dirty="0">
                <a:latin typeface="Arial" panose="020B0604020202020204" pitchFamily="34" charset="0"/>
              </a:rPr>
              <a:t>changes with day of week, season, or events</a:t>
            </a:r>
            <a:r>
              <a:rPr lang="en-US" altLang="en-UG" dirty="0">
                <a:latin typeface="Arial" panose="020B0604020202020204" pitchFamily="34" charset="0"/>
              </a:rPr>
              <a:t>)</a:t>
            </a:r>
            <a:r>
              <a:rPr lang="en-UG" altLang="en-UG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b="1" dirty="0">
                <a:latin typeface="Arial" panose="020B0604020202020204" pitchFamily="34" charset="0"/>
              </a:rPr>
              <a:t>Reinforcement Learning (RL)</a:t>
            </a:r>
            <a:r>
              <a:rPr lang="en-UG" altLang="en-UG" dirty="0">
                <a:latin typeface="Arial" panose="020B0604020202020204" pitchFamily="34" charset="0"/>
              </a:rPr>
              <a:t> allows the vendor to: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dirty="0">
                <a:latin typeface="Arial" panose="020B0604020202020204" pitchFamily="34" charset="0"/>
              </a:rPr>
              <a:t>Learn from past sales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dirty="0">
                <a:latin typeface="Arial" panose="020B0604020202020204" pitchFamily="34" charset="0"/>
              </a:rPr>
              <a:t>Adjust order quantities dynamically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G" altLang="en-UG" dirty="0">
                <a:latin typeface="Arial" panose="020B0604020202020204" pitchFamily="34" charset="0"/>
              </a:rPr>
              <a:t>Maximize daily profit while minimizing stockouts</a:t>
            </a: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70930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B488-7BED-6EF0-328B-9AB2B6FC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9D15-3D1B-768D-2E41-19BB15C7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4390"/>
            <a:ext cx="10515600" cy="3962574"/>
          </a:xfrm>
        </p:spPr>
        <p:txBody>
          <a:bodyPr/>
          <a:lstStyle/>
          <a:p>
            <a:r>
              <a:rPr lang="en-US" dirty="0"/>
              <a:t>Design and train an RL agent to:-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Suggest the optimal number of units to order daily.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stockouts and overstock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profitability for market vendors </a:t>
            </a:r>
          </a:p>
          <a:p>
            <a:pPr>
              <a:buFont typeface="Arial" panose="020B0604020202020204" pitchFamily="34" charset="0"/>
              <a:buChar char="•"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54633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A8D1-4C25-A7B1-1CC7-D9A1D950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Formulation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3F513-3AAA-073F-C8A8-6D1D94639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Markov Decision Process (MDP) definition:</a:t>
            </a:r>
          </a:p>
          <a:p>
            <a:r>
              <a:rPr lang="en-US" dirty="0"/>
              <a:t>State (S): (current stock, day of week, moving average demand)</a:t>
            </a:r>
          </a:p>
          <a:p>
            <a:r>
              <a:rPr lang="en-US" dirty="0"/>
              <a:t>Action (A): Number of units to order (0 → max order, e.g., 20 units)</a:t>
            </a:r>
          </a:p>
          <a:p>
            <a:r>
              <a:rPr lang="en-US" dirty="0"/>
              <a:t>Reward (R): Profit = revenue - holding cost - stockout penalty</a:t>
            </a:r>
          </a:p>
          <a:p>
            <a:r>
              <a:rPr lang="en-US" dirty="0"/>
              <a:t>Transition (P): Daily demand is stochastic; next state depends on current state &amp; action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1902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99A2-B9A6-2466-C1AD-66FE2C82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Algorithm choice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4C6B-738A-3AD7-A61A-D6FA8A74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Algorithm: Q-learning (tabular)</a:t>
            </a:r>
          </a:p>
          <a:p>
            <a:r>
              <a:rPr lang="en-US" dirty="0"/>
              <a:t>Why Q-learning:-Simple &amp; interpretable for discrete state-action space</a:t>
            </a:r>
          </a:p>
          <a:p>
            <a:pPr marL="0" indent="0">
              <a:buNone/>
            </a:pPr>
            <a:r>
              <a:rPr lang="en-US" dirty="0"/>
              <a:t>-No need for deep networks for small inventory problem</a:t>
            </a:r>
          </a:p>
          <a:p>
            <a:r>
              <a:rPr lang="en-US" dirty="0"/>
              <a:t>Key concepts:</a:t>
            </a:r>
          </a:p>
          <a:p>
            <a:pPr marL="0" indent="0">
              <a:buNone/>
            </a:pPr>
            <a:r>
              <a:rPr lang="en-US" dirty="0"/>
              <a:t>-Exploration vs. Exploitation: epsilon-greedy strategy</a:t>
            </a:r>
          </a:p>
          <a:p>
            <a:pPr marL="0" indent="0">
              <a:buNone/>
            </a:pPr>
            <a:r>
              <a:rPr lang="en-US" dirty="0"/>
              <a:t>-Q-table: stores expected rewards for each (state, action) pair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5586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15EF-F853-9918-2CB6-1D886006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&amp; Training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3A5E-1565-2382-0D57-322194228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Environment: MarketEnv simulates vendor shop: daily demand &amp; inventory</a:t>
            </a:r>
          </a:p>
          <a:p>
            <a:pPr>
              <a:lnSpc>
                <a:spcPct val="110000"/>
              </a:lnSpc>
            </a:pPr>
            <a:r>
              <a:rPr lang="en-US" dirty="0"/>
              <a:t>Training parameters: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-Episodes: 3000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-Days per episode: 30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-Learning rate (alpha): 0.1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-Discount factor (gamma): 0.99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-Epsilon decay: 0.995</a:t>
            </a:r>
          </a:p>
          <a:p>
            <a:pPr>
              <a:lnSpc>
                <a:spcPct val="110000"/>
              </a:lnSpc>
            </a:pPr>
            <a:r>
              <a:rPr lang="en-US" dirty="0"/>
              <a:t>Metrics tracked: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-Average daily profit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-Profit standard deviation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-Total stockouts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2489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1E95-0444-EE24-5BB1-A315C9BA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Results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476B-0174-3D7C-7FE5-BE9B5C86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  <a:p>
            <a:pPr marL="0" indent="0">
              <a:buNone/>
            </a:pPr>
            <a:r>
              <a:rPr lang="en-US" dirty="0"/>
              <a:t>-Average daily profit: 4241.75</a:t>
            </a:r>
          </a:p>
          <a:p>
            <a:pPr marL="0" indent="0">
              <a:buNone/>
            </a:pPr>
            <a:r>
              <a:rPr lang="en-US" dirty="0"/>
              <a:t>-Profit std: 300.49</a:t>
            </a:r>
          </a:p>
          <a:p>
            <a:pPr marL="0" indent="0">
              <a:buNone/>
            </a:pPr>
            <a:r>
              <a:rPr lang="en-US" dirty="0"/>
              <a:t>-Total stockouts: 7851 units over 3000 episodes</a:t>
            </a:r>
          </a:p>
          <a:p>
            <a:r>
              <a:rPr lang="en-US" dirty="0"/>
              <a:t>Observations:</a:t>
            </a:r>
          </a:p>
          <a:p>
            <a:pPr marL="0" indent="0">
              <a:buNone/>
            </a:pPr>
            <a:r>
              <a:rPr lang="en-US" dirty="0"/>
              <a:t>-Agent learns to balance supply and demand</a:t>
            </a:r>
          </a:p>
          <a:p>
            <a:pPr marL="0" indent="0">
              <a:buNone/>
            </a:pPr>
            <a:r>
              <a:rPr lang="en-US" dirty="0"/>
              <a:t>-Avoids over-ordering while minimizing stockouts</a:t>
            </a:r>
          </a:p>
          <a:p>
            <a:pPr marL="0" indent="0">
              <a:buNone/>
            </a:pPr>
            <a:r>
              <a:rPr lang="en-US" dirty="0"/>
              <a:t>-Epsilon decay ensures shift from exploration to exploitation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1873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DB03-C9A5-0244-74DD-BA3FFCB7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Demo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452F-9F09-8A8B-EBCA-C1F628AB7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675" y="1608463"/>
            <a:ext cx="10913125" cy="5249537"/>
          </a:xfrm>
        </p:spPr>
        <p:txBody>
          <a:bodyPr>
            <a:normAutofit/>
          </a:bodyPr>
          <a:lstStyle/>
          <a:p>
            <a:r>
              <a:rPr lang="en-US" sz="2400" dirty="0"/>
              <a:t>The Purpose is to demonstrate RL agent predictions via API.</a:t>
            </a:r>
          </a:p>
          <a:p>
            <a:pPr marL="0" indent="0">
              <a:buNone/>
            </a:pPr>
            <a:r>
              <a:rPr lang="en-US" sz="2400" dirty="0"/>
              <a:t>import requests</a:t>
            </a:r>
          </a:p>
          <a:p>
            <a:pPr marL="0" indent="0">
              <a:buNone/>
            </a:pPr>
            <a:r>
              <a:rPr lang="en-US" sz="2400" dirty="0"/>
              <a:t>examples = [</a:t>
            </a:r>
          </a:p>
          <a:p>
            <a:pPr marL="0" indent="0">
              <a:buNone/>
            </a:pPr>
            <a:r>
              <a:rPr lang="en-US" sz="2400" dirty="0"/>
              <a:t>    {"stock": 12, "day_of_week": 2, "mov_avg": 10},</a:t>
            </a:r>
          </a:p>
          <a:p>
            <a:pPr marL="0" indent="0">
              <a:buNone/>
            </a:pPr>
            <a:r>
              <a:rPr lang="en-US" sz="2400" dirty="0"/>
              <a:t>    {"stock": 5, "day_of_week": 4, "mov_avg": 8},</a:t>
            </a:r>
          </a:p>
          <a:p>
            <a:pPr marL="0" indent="0">
              <a:buNone/>
            </a:pPr>
            <a:r>
              <a:rPr lang="en-US" sz="2400" dirty="0"/>
              <a:t>    {"stock": 20, "day_of_week": 0, "mov_avg": 15}</a:t>
            </a:r>
          </a:p>
          <a:p>
            <a:pPr marL="0" indent="0">
              <a:buNone/>
            </a:pPr>
            <a:r>
              <a:rPr lang="en-US" sz="2400" dirty="0"/>
              <a:t>]</a:t>
            </a:r>
          </a:p>
          <a:p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922CD-1BD7-58D3-3632-1BCF647F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33" y="4452867"/>
            <a:ext cx="11093985" cy="23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4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8266-A081-1658-96D9-070EB463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10" y="476099"/>
            <a:ext cx="9375354" cy="40525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780A-18D4-B770-E91E-CB3DCCB53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E767E-C551-D649-3729-5E03C595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2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ABEB-B647-6AA8-19CA-1EC7E4C3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244E-29AE-AE95-14E8-85B0BA81E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serving: FastAPI</a:t>
            </a:r>
          </a:p>
          <a:p>
            <a:r>
              <a:rPr lang="en-US" dirty="0"/>
              <a:t>Containerization: Docker ready</a:t>
            </a:r>
          </a:p>
          <a:p>
            <a:r>
              <a:rPr lang="en-US" dirty="0"/>
              <a:t>Deployment options:</a:t>
            </a:r>
          </a:p>
          <a:p>
            <a:pPr marL="0" indent="0">
              <a:buNone/>
            </a:pPr>
            <a:r>
              <a:rPr lang="en-US" dirty="0"/>
              <a:t>-Local server</a:t>
            </a:r>
          </a:p>
          <a:p>
            <a:pPr marL="0" indent="0">
              <a:buNone/>
            </a:pPr>
            <a:r>
              <a:rPr lang="en-US" dirty="0"/>
              <a:t>-Cloud (AWS SageMaker, Azure ML, GCP Vertex AI)</a:t>
            </a:r>
          </a:p>
          <a:p>
            <a:r>
              <a:rPr lang="en-US" dirty="0"/>
              <a:t>Monitoring:</a:t>
            </a:r>
          </a:p>
          <a:p>
            <a:pPr marL="0" indent="0">
              <a:buNone/>
            </a:pPr>
            <a:r>
              <a:rPr lang="en-US" dirty="0"/>
              <a:t>-Track reward, stockouts, performance</a:t>
            </a:r>
          </a:p>
          <a:p>
            <a:pPr marL="0" indent="0">
              <a:buNone/>
            </a:pPr>
            <a:r>
              <a:rPr lang="en-US" dirty="0"/>
              <a:t>-Detect data drift or policy degradation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697666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73F8-4A74-F597-F89D-ED51D4BB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2D8A-925B-2019-8768-DEE43A8E4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RL agent successfully learns optimal ordering strategy</a:t>
            </a:r>
          </a:p>
          <a:p>
            <a:pPr marL="0" indent="0">
              <a:buNone/>
            </a:pPr>
            <a:r>
              <a:rPr lang="en-US" dirty="0"/>
              <a:t>-Reduces stockouts</a:t>
            </a:r>
          </a:p>
          <a:p>
            <a:pPr marL="0" indent="0">
              <a:buNone/>
            </a:pPr>
            <a:r>
              <a:rPr lang="en-US" dirty="0"/>
              <a:t>-Increases profit</a:t>
            </a:r>
          </a:p>
          <a:p>
            <a:r>
              <a:rPr lang="en-US" dirty="0"/>
              <a:t>Flexible and scalable for real-world use</a:t>
            </a:r>
          </a:p>
          <a:p>
            <a:r>
              <a:rPr lang="en-US" dirty="0"/>
              <a:t>Future improvements:</a:t>
            </a:r>
          </a:p>
          <a:p>
            <a:pPr marL="0" indent="0">
              <a:buNone/>
            </a:pPr>
            <a:r>
              <a:rPr lang="en-US" dirty="0"/>
              <a:t>-Multiple products</a:t>
            </a:r>
          </a:p>
          <a:p>
            <a:pPr marL="0" indent="0">
              <a:buNone/>
            </a:pPr>
            <a:r>
              <a:rPr lang="en-US" dirty="0"/>
              <a:t>-Seasonal demand patterns</a:t>
            </a:r>
          </a:p>
          <a:p>
            <a:pPr marL="0" indent="0">
              <a:buNone/>
            </a:pPr>
            <a:r>
              <a:rPr lang="en-US" dirty="0"/>
              <a:t>-Integration with live sales data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924202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4EEC-0563-425E-374F-A5B04306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58B2-4111-FE33-8AC7-D5CA71EDC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OpenAI Gym documentation</a:t>
            </a:r>
          </a:p>
          <a:p>
            <a:r>
              <a:rPr lang="en-US" dirty="0"/>
              <a:t>FastAPI documentation</a:t>
            </a:r>
          </a:p>
          <a:p>
            <a:r>
              <a:rPr lang="en-US" dirty="0"/>
              <a:t>Python libraries: numpy, pandas, matplotlib</a:t>
            </a:r>
          </a:p>
          <a:p>
            <a:r>
              <a:rPr lang="en-US" dirty="0"/>
              <a:t>Reinforcement Learning textbooks and tutorials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562707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606</Words>
  <Application>Microsoft Office PowerPoint</Application>
  <PresentationFormat>Widescreen</PresentationFormat>
  <Paragraphs>93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</vt:lpstr>
      <vt:lpstr>Office Theme</vt:lpstr>
      <vt:lpstr>Optimizing Market Vendor Inventory in Uganda Using Reinforcement Learning</vt:lpstr>
      <vt:lpstr>Introduction</vt:lpstr>
      <vt:lpstr>Problem Statement</vt:lpstr>
      <vt:lpstr>Objective</vt:lpstr>
      <vt:lpstr>MDP Formulation</vt:lpstr>
      <vt:lpstr>RL Algorithm choice</vt:lpstr>
      <vt:lpstr>Environment &amp; Training</vt:lpstr>
      <vt:lpstr>Training Results</vt:lpstr>
      <vt:lpstr>API Demo</vt:lpstr>
      <vt:lpstr> </vt:lpstr>
      <vt:lpstr>Deployment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UCU</dc:title>
  <dc:creator>Microsoft Office User</dc:creator>
  <cp:lastModifiedBy>Tessa</cp:lastModifiedBy>
  <cp:revision>25</cp:revision>
  <dcterms:created xsi:type="dcterms:W3CDTF">2023-08-23T08:11:39Z</dcterms:created>
  <dcterms:modified xsi:type="dcterms:W3CDTF">2025-11-21T14:09:49Z</dcterms:modified>
</cp:coreProperties>
</file>